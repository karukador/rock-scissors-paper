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3"/>
    <p:sldId id="283" r:id="rId4"/>
    <p:sldId id="257" r:id="rId5"/>
    <p:sldId id="259" r:id="rId6"/>
    <p:sldId id="271" r:id="rId7"/>
    <p:sldId id="272" r:id="rId8"/>
    <p:sldId id="274" r:id="rId9"/>
    <p:sldId id="275" r:id="rId10"/>
    <p:sldId id="276" r:id="rId11"/>
    <p:sldId id="277" r:id="rId12"/>
    <p:sldId id="278" r:id="rId13"/>
    <p:sldId id="279" r:id="rId14"/>
    <p:sldId id="281" r:id="rId15"/>
    <p:sldId id="28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FFF2E6"/>
    <a:srgbClr val="FEECD9"/>
    <a:srgbClr val="A4A4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Заголовок 4"/>
          <p:cNvSpPr>
            <a:spLocks noGrp="1"/>
          </p:cNvSpPr>
          <p:nvPr>
            <p:ph type="ctrTitle"/>
          </p:nvPr>
        </p:nvSpPr>
        <p:spPr>
          <a:xfrm>
            <a:off x="1066800" y="1199515"/>
            <a:ext cx="10058400" cy="2579370"/>
          </a:xfrm>
        </p:spPr>
        <p:txBody>
          <a:bodyPr>
            <a:normAutofit/>
          </a:bodyPr>
          <a:lstStyle/>
          <a:p>
            <a:r>
              <a:rPr lang="en-US" sz="6600" b="1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charset="0"/>
                <a:cs typeface="Calibri" panose="020F0502020204030204" charset="0"/>
              </a:rPr>
              <a:t>rock-scissors-paper</a:t>
            </a:r>
            <a:br>
              <a:rPr lang="en-US" sz="6600" b="1" i="0" dirty="0">
                <a:solidFill>
                  <a:srgbClr val="1F2328"/>
                </a:solidFill>
                <a:effectLst/>
                <a:latin typeface="Calibri" panose="020F0502020204030204" charset="0"/>
                <a:cs typeface="Calibri" panose="020F0502020204030204" charset="0"/>
              </a:rPr>
            </a:br>
            <a:r>
              <a:rPr lang="ru-RU" sz="2800" b="0" i="0" dirty="0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charset="0"/>
                <a:cs typeface="Calibri" panose="020F0502020204030204" charset="0"/>
              </a:rPr>
              <a:t>текстовая игра "камень, ножницы, бумага" с озвучкой на </a:t>
            </a:r>
            <a:r>
              <a:rPr lang="ru-RU" sz="2800" b="0" i="0" dirty="0" err="1">
                <a:solidFill>
                  <a:schemeClr val="tx1">
                    <a:lumMod val="95000"/>
                  </a:schemeClr>
                </a:solidFill>
                <a:effectLst/>
                <a:latin typeface="Calibri" panose="020F0502020204030204" charset="0"/>
                <a:cs typeface="Calibri" panose="020F0502020204030204" charset="0"/>
              </a:rPr>
              <a:t>Python</a:t>
            </a:r>
            <a:endParaRPr lang="ru-RU" sz="2800" dirty="0">
              <a:solidFill>
                <a:schemeClr val="tx1">
                  <a:lumMod val="95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8" name="Изображение 7" descr="rock-scissors-paper-color-icon-260nw-2514654275"/>
          <p:cNvPicPr>
            <a:picLocks noChangeAspect="1"/>
          </p:cNvPicPr>
          <p:nvPr/>
        </p:nvPicPr>
        <p:blipFill>
          <a:blip r:embed="rId1"/>
          <a:srcRect b="4851"/>
          <a:stretch>
            <a:fillRect/>
          </a:stretch>
        </p:blipFill>
        <p:spPr>
          <a:xfrm>
            <a:off x="1066800" y="4338955"/>
            <a:ext cx="6560820" cy="2030095"/>
          </a:xfrm>
          <a:prstGeom prst="rect">
            <a:avLst/>
          </a:prstGeom>
        </p:spPr>
      </p:pic>
      <p:sp>
        <p:nvSpPr>
          <p:cNvPr id="2" name="Подзаголовок 1"/>
          <p:cNvSpPr/>
          <p:nvPr>
            <p:ph type="subTitle" idx="1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Текстовое поле 3"/>
          <p:cNvSpPr txBox="1"/>
          <p:nvPr/>
        </p:nvSpPr>
        <p:spPr>
          <a:xfrm>
            <a:off x="220345" y="123825"/>
            <a:ext cx="4389755" cy="815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4000"/>
              <a:t>Как</a:t>
            </a:r>
            <a:r>
              <a:rPr lang="en-US" altLang="ru-RU" sz="4000"/>
              <a:t> </a:t>
            </a:r>
            <a:r>
              <a:rPr lang="en-US" altLang="en-US" sz="4000"/>
              <a:t>использовать</a:t>
            </a:r>
            <a:endParaRPr lang="en-US" altLang="en-US" sz="4000"/>
          </a:p>
          <a:p>
            <a:endParaRPr lang="en-US" altLang="ru-RU" sz="4000"/>
          </a:p>
        </p:txBody>
      </p:sp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1"/>
          <a:srcRect t="35904" b="35693"/>
          <a:stretch>
            <a:fillRect/>
          </a:stretch>
        </p:blipFill>
        <p:spPr>
          <a:xfrm>
            <a:off x="555625" y="1505585"/>
            <a:ext cx="7613015" cy="427990"/>
          </a:xfrm>
          <a:prstGeom prst="rect">
            <a:avLst/>
          </a:prstGeom>
        </p:spPr>
      </p:pic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2"/>
          <a:srcRect t="37658" r="31212"/>
          <a:stretch>
            <a:fillRect/>
          </a:stretch>
        </p:blipFill>
        <p:spPr>
          <a:xfrm>
            <a:off x="555625" y="4319270"/>
            <a:ext cx="2793365" cy="639445"/>
          </a:xfrm>
          <a:prstGeom prst="rect">
            <a:avLst/>
          </a:prstGeom>
        </p:spPr>
      </p:pic>
      <p:sp>
        <p:nvSpPr>
          <p:cNvPr id="7" name="Текстовое поле 6"/>
          <p:cNvSpPr txBox="1"/>
          <p:nvPr/>
        </p:nvSpPr>
        <p:spPr>
          <a:xfrm>
            <a:off x="220345" y="939165"/>
            <a:ext cx="4389755" cy="815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ru-RU" altLang="en-US" sz="2800"/>
              <a:t>1. Скачивание проекта</a:t>
            </a:r>
            <a:endParaRPr lang="ru-RU" altLang="en-US" sz="2800"/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220345" y="5124450"/>
            <a:ext cx="7169785" cy="1935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ru-RU" altLang="en-US" sz="2400"/>
              <a:t>клонируем репозиторий, введя команду в терминал</a:t>
            </a:r>
            <a:r>
              <a:rPr lang="en-US" altLang="en-US" sz="2400"/>
              <a:t>/</a:t>
            </a:r>
            <a:r>
              <a:rPr lang="ru-RU" altLang="en-US" sz="2400"/>
              <a:t>командную строку</a:t>
            </a:r>
            <a:endParaRPr lang="ru-RU" altLang="en-US" sz="2400"/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220345" y="3630295"/>
            <a:ext cx="7444105" cy="815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ru-RU" altLang="en-US" sz="2800"/>
              <a:t>2. </a:t>
            </a:r>
            <a:r>
              <a:rPr lang="en-US" altLang="en-US" sz="2800"/>
              <a:t>Установ</a:t>
            </a:r>
            <a:r>
              <a:rPr lang="ru-RU" altLang="en-US" sz="2800"/>
              <a:t>ка</a:t>
            </a:r>
            <a:r>
              <a:rPr lang="en-US" altLang="ru-RU" sz="2800"/>
              <a:t> </a:t>
            </a:r>
            <a:r>
              <a:rPr lang="en-US" altLang="en-US" sz="2800"/>
              <a:t>модул</a:t>
            </a:r>
            <a:r>
              <a:rPr lang="ru-RU" altLang="en-US" sz="2800"/>
              <a:t>я</a:t>
            </a:r>
            <a:r>
              <a:rPr lang="en-US" altLang="ru-RU" sz="2800"/>
              <a:t> </a:t>
            </a:r>
            <a:r>
              <a:rPr lang="en-US" altLang="en-US" sz="2800"/>
              <a:t>для</a:t>
            </a:r>
            <a:r>
              <a:rPr lang="en-US" altLang="ru-RU" sz="2800"/>
              <a:t> </a:t>
            </a:r>
            <a:r>
              <a:rPr lang="en-US" altLang="en-US" sz="2800"/>
              <a:t>озвучивания</a:t>
            </a:r>
            <a:r>
              <a:rPr lang="en-US" altLang="ru-RU" sz="2800"/>
              <a:t> </a:t>
            </a:r>
            <a:r>
              <a:rPr lang="en-US" altLang="en-US" sz="2800"/>
              <a:t>текста</a:t>
            </a:r>
            <a:r>
              <a:rPr lang="en-US" altLang="ru-RU" sz="2800"/>
              <a:t>:</a:t>
            </a:r>
            <a:endParaRPr lang="en-US" altLang="ru-RU" sz="2800"/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220345" y="2086610"/>
            <a:ext cx="7744460" cy="969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ru-RU" altLang="en-US" sz="2400"/>
              <a:t>клонируем репозиторий, введя команду в терминал</a:t>
            </a:r>
            <a:r>
              <a:rPr lang="en-US" altLang="en-US" sz="2400"/>
              <a:t>/</a:t>
            </a:r>
            <a:r>
              <a:rPr lang="ru-RU" altLang="en-US" sz="2400"/>
              <a:t>командную строку</a:t>
            </a:r>
            <a:endParaRPr lang="ru-RU" altLang="en-US" sz="2400"/>
          </a:p>
        </p:txBody>
      </p:sp>
      <p:pic>
        <p:nvPicPr>
          <p:cNvPr id="12" name="Изображение 11" descr="Снимок экрана 2025-11-09 2040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0575" y="1049655"/>
            <a:ext cx="3781425" cy="3743325"/>
          </a:xfrm>
          <a:prstGeom prst="rect">
            <a:avLst/>
          </a:prstGeom>
        </p:spPr>
      </p:pic>
      <p:sp>
        <p:nvSpPr>
          <p:cNvPr id="13" name="Текстовое поле 12"/>
          <p:cNvSpPr txBox="1"/>
          <p:nvPr/>
        </p:nvSpPr>
        <p:spPr>
          <a:xfrm>
            <a:off x="8689340" y="4950460"/>
            <a:ext cx="3224530" cy="892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ru-RU" sz="2400"/>
              <a:t>репозиторий </a:t>
            </a:r>
            <a:r>
              <a:rPr lang="en-US" altLang="en-US" sz="2400"/>
              <a:t>↑↑↑</a:t>
            </a:r>
            <a:r>
              <a:rPr lang="ru-RU" sz="2400"/>
              <a:t> </a:t>
            </a:r>
            <a:endParaRPr lang="ru-RU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rcRect l="6212"/>
          <a:stretch>
            <a:fillRect/>
          </a:stretch>
        </p:blipFill>
        <p:spPr>
          <a:xfrm>
            <a:off x="0" y="0"/>
            <a:ext cx="7276465" cy="3797300"/>
          </a:xfrm>
          <a:prstGeom prst="rect">
            <a:avLst/>
          </a:prstGeom>
        </p:spPr>
      </p:pic>
      <p:sp>
        <p:nvSpPr>
          <p:cNvPr id="6" name="Текстовое поле 5"/>
          <p:cNvSpPr txBox="1"/>
          <p:nvPr/>
        </p:nvSpPr>
        <p:spPr>
          <a:xfrm>
            <a:off x="7276465" y="0"/>
            <a:ext cx="4916170" cy="41541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1 -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импортируем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библиотеку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для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преобразования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текста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речь</a:t>
            </a:r>
            <a:br>
              <a:rPr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</a:br>
            <a:r>
              <a:rPr 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2 -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импортируем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функцию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генерации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случайных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целых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чисел</a:t>
            </a:r>
            <a:endParaRPr lang="en-US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5 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объявляем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функцию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синтеза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речи</a:t>
            </a:r>
            <a:endParaRPr lang="en-US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6 -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инициализируем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объект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синтезатора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речи</a:t>
            </a:r>
            <a:endParaRPr lang="en-US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7 -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добавляем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текст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очередь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для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воспроизведения</a:t>
            </a:r>
            <a:b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</a:br>
            <a:endParaRPr lang="ru-RU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0" y="3854450"/>
            <a:ext cx="7581900" cy="169227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/>
            <a:r>
              <a:rPr 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8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запускаем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воспроизведение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и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ожидаем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завершения</a:t>
            </a:r>
            <a:endParaRPr lang="en-US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b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</a:br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9 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останавливаем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синтезатор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b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</a:br>
            <a:endParaRPr lang="ru-RU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1"/>
          <a:srcRect l="4273"/>
          <a:stretch>
            <a:fillRect/>
          </a:stretch>
        </p:blipFill>
        <p:spPr>
          <a:xfrm>
            <a:off x="0" y="-635"/>
            <a:ext cx="7994650" cy="3101340"/>
          </a:xfrm>
          <a:prstGeom prst="rect">
            <a:avLst/>
          </a:prstGeom>
        </p:spPr>
      </p:pic>
      <p:sp>
        <p:nvSpPr>
          <p:cNvPr id="12" name="Текстовое поле 11"/>
          <p:cNvSpPr txBox="1"/>
          <p:nvPr/>
        </p:nvSpPr>
        <p:spPr>
          <a:xfrm>
            <a:off x="7994650" y="-635"/>
            <a:ext cx="4197350" cy="310070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/>
            <a:r>
              <a:rPr 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12 -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создаем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словарь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для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сопоставления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числовых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кодов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с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вариантами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выбора</a:t>
            </a:r>
            <a:endParaRPr lang="en-US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b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</a:b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15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переменная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для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хранения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текущего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выбора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пользователя</a:t>
            </a:r>
            <a:endParaRPr lang="en-US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0" y="3268345"/>
            <a:ext cx="8309610" cy="310070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/>
            <a:r>
              <a:rPr 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1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6 -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счетчик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очков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пользователя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, </a:t>
            </a:r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по умолчанию ноль</a:t>
            </a:r>
            <a:endParaRPr lang="en-US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b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</a:b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17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счетчик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очков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компьютера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, </a:t>
            </a:r>
            <a:r>
              <a:rPr lang="ru-RU" altLang="en-US" sz="2400">
                <a:latin typeface="Calibri" panose="020F0502020204030204" charset="0"/>
                <a:ea typeface="quote-cjk-patch"/>
                <a:cs typeface="Calibri" panose="020F0502020204030204" charset="0"/>
                <a:sym typeface="+mn-ea"/>
              </a:rPr>
              <a:t>по умолчанию ноль</a:t>
            </a:r>
            <a:endParaRPr lang="en-US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09710" cy="2270760"/>
          </a:xfrm>
          <a:prstGeom prst="rect">
            <a:avLst/>
          </a:prstGeom>
        </p:spPr>
      </p:pic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17315"/>
            <a:ext cx="7430135" cy="2232660"/>
          </a:xfrm>
          <a:prstGeom prst="rect">
            <a:avLst/>
          </a:prstGeom>
        </p:spPr>
      </p:pic>
      <p:sp>
        <p:nvSpPr>
          <p:cNvPr id="4" name="Текстовое поле 3"/>
          <p:cNvSpPr txBox="1"/>
          <p:nvPr/>
        </p:nvSpPr>
        <p:spPr>
          <a:xfrm>
            <a:off x="9109710" y="0"/>
            <a:ext cx="3097530" cy="231076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/>
            <a:r>
              <a:rPr 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20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объявляем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функцию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вывода меню</a:t>
            </a:r>
            <a:b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</a:br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21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выводим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инструкцию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для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пользователя</a:t>
            </a:r>
            <a:b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</a:b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b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</a:br>
            <a:endParaRPr lang="ru-RU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136525" y="2367915"/>
            <a:ext cx="8973185" cy="11988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22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используем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цикл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для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перебора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всех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вариантов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меню</a:t>
            </a:r>
            <a:endParaRPr lang="en-US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endParaRPr lang="ru-RU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23 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вывод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каждого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пункта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меню</a:t>
            </a:r>
            <a:endParaRPr lang="en-US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Текстовое поле 3"/>
          <p:cNvSpPr txBox="1"/>
          <p:nvPr/>
        </p:nvSpPr>
        <p:spPr>
          <a:xfrm>
            <a:off x="8100695" y="3429000"/>
            <a:ext cx="4112260" cy="231076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/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30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возвращаем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строку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при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победе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пользователя</a:t>
            </a:r>
            <a:endParaRPr lang="en-US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31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во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всех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остальных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случаях</a:t>
            </a:r>
            <a:endParaRPr lang="en-US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32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возвращаем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строку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при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победе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компьютера</a:t>
            </a:r>
            <a:b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</a:b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b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</a:br>
            <a:endParaRPr lang="ru-RU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0" y="2893060"/>
            <a:ext cx="8330565" cy="489585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/>
            <a:r>
              <a:rPr 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26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объявляем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функцию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с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двумя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параметрами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: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выбор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пользователя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и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выбор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компьютера</a:t>
            </a:r>
            <a:endParaRPr lang="en-US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27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- </a:t>
            </a:r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если очки пользователя равны очкам компьютера</a:t>
            </a:r>
            <a:endParaRPr lang="ru-RU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28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возвращаем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строку</a:t>
            </a:r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при ничье</a:t>
            </a:r>
            <a:endParaRPr lang="en-US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29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проверяем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три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выигрышные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комбинации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:</a:t>
            </a:r>
            <a:endParaRPr lang="en-US" altLang="ru-RU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  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Пользователь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: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Камень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(1) vs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Компьютер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: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Ножницы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(2)</a:t>
            </a:r>
            <a:endParaRPr lang="en-US" altLang="ru-RU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  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Пользователь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: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Ножницы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(2) vs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Компьютер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: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Бумага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(3)</a:t>
            </a:r>
            <a:endParaRPr lang="en-US" altLang="ru-RU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  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Пользователь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: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Бумага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(3) vs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Компьютер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: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Камень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(1)</a:t>
            </a:r>
            <a:endParaRPr lang="en-US" altLang="ru-RU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endParaRPr lang="en-US" altLang="ru-RU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2870"/>
            <a:ext cx="12175490" cy="26962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Текстовое поле 2"/>
          <p:cNvSpPr txBox="1"/>
          <p:nvPr/>
        </p:nvSpPr>
        <p:spPr>
          <a:xfrm>
            <a:off x="976630" y="3334385"/>
            <a:ext cx="7553325" cy="1938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ru-RU" altLang="en-US" sz="2400">
                <a:latin typeface="Calibri" panose="020F0502020204030204" charset="0"/>
                <a:ea typeface="quote-cjk-patch"/>
                <a:cs typeface="Calibri" panose="020F0502020204030204" charset="0"/>
                <a:sym typeface="+mn-ea"/>
              </a:rPr>
              <a:t>39</a:t>
            </a:r>
            <a:r>
              <a:rPr lang="en-US" altLang="ru-RU" sz="2400">
                <a:latin typeface="Calibri" panose="020F0502020204030204" charset="0"/>
                <a:ea typeface="quote-cjk-patch"/>
                <a:cs typeface="Calibri" panose="020F0502020204030204" charset="0"/>
                <a:sym typeface="+mn-ea"/>
              </a:rPr>
              <a:t> - </a:t>
            </a:r>
            <a:r>
              <a:rPr lang="en-US" altLang="en-US" sz="2400">
                <a:latin typeface="Calibri" panose="020F0502020204030204" charset="0"/>
                <a:ea typeface="quote-cjk-patch"/>
                <a:cs typeface="Calibri" panose="020F0502020204030204" charset="0"/>
                <a:sym typeface="+mn-ea"/>
              </a:rPr>
              <a:t>возвращаем</a:t>
            </a:r>
            <a:r>
              <a:rPr lang="en-US" altLang="ru-RU" sz="2400">
                <a:latin typeface="Calibri" panose="020F0502020204030204" charset="0"/>
                <a:ea typeface="quote-cjk-patch"/>
                <a:cs typeface="Calibri" panose="020F0502020204030204" charset="0"/>
                <a:sym typeface="+mn-ea"/>
              </a:rPr>
              <a:t> </a:t>
            </a:r>
            <a:r>
              <a:rPr lang="en-US" altLang="en-US" sz="2400">
                <a:latin typeface="Calibri" panose="020F0502020204030204" charset="0"/>
                <a:ea typeface="quote-cjk-patch"/>
                <a:cs typeface="Calibri" panose="020F0502020204030204" charset="0"/>
                <a:sym typeface="+mn-ea"/>
              </a:rPr>
              <a:t>строку</a:t>
            </a:r>
            <a:r>
              <a:rPr lang="en-US" altLang="ru-RU" sz="2400">
                <a:latin typeface="Calibri" panose="020F0502020204030204" charset="0"/>
                <a:ea typeface="quote-cjk-patch"/>
                <a:cs typeface="Calibri" panose="020F0502020204030204" charset="0"/>
                <a:sym typeface="+mn-ea"/>
              </a:rPr>
              <a:t> </a:t>
            </a:r>
            <a:r>
              <a:rPr lang="en-US" altLang="en-US" sz="2400">
                <a:latin typeface="Calibri" panose="020F0502020204030204" charset="0"/>
                <a:ea typeface="quote-cjk-patch"/>
                <a:cs typeface="Calibri" panose="020F0502020204030204" charset="0"/>
                <a:sym typeface="+mn-ea"/>
              </a:rPr>
              <a:t>при</a:t>
            </a:r>
            <a:r>
              <a:rPr lang="en-US" altLang="ru-RU" sz="2400">
                <a:latin typeface="Calibri" panose="020F0502020204030204" charset="0"/>
                <a:ea typeface="quote-cjk-patch"/>
                <a:cs typeface="Calibri" panose="020F0502020204030204" charset="0"/>
                <a:sym typeface="+mn-ea"/>
              </a:rPr>
              <a:t> </a:t>
            </a:r>
            <a:r>
              <a:rPr lang="en-US" altLang="en-US" sz="2400">
                <a:latin typeface="Calibri" panose="020F0502020204030204" charset="0"/>
                <a:ea typeface="quote-cjk-patch"/>
                <a:cs typeface="Calibri" panose="020F0502020204030204" charset="0"/>
                <a:sym typeface="+mn-ea"/>
              </a:rPr>
              <a:t>лидерстве</a:t>
            </a:r>
            <a:r>
              <a:rPr lang="en-US" altLang="ru-RU" sz="2400">
                <a:latin typeface="Calibri" panose="020F0502020204030204" charset="0"/>
                <a:ea typeface="quote-cjk-patch"/>
                <a:cs typeface="Calibri" panose="020F0502020204030204" charset="0"/>
                <a:sym typeface="+mn-ea"/>
              </a:rPr>
              <a:t> </a:t>
            </a:r>
            <a:r>
              <a:rPr lang="en-US" altLang="en-US" sz="2400">
                <a:latin typeface="Calibri" panose="020F0502020204030204" charset="0"/>
                <a:ea typeface="quote-cjk-patch"/>
                <a:cs typeface="Calibri" panose="020F0502020204030204" charset="0"/>
                <a:sym typeface="+mn-ea"/>
              </a:rPr>
              <a:t>пользователя</a:t>
            </a:r>
            <a:endParaRPr lang="en-US" altLang="en-US" sz="2400">
              <a:latin typeface="Calibri" panose="020F0502020204030204" charset="0"/>
              <a:ea typeface="quote-cjk-patch"/>
              <a:cs typeface="Calibri" panose="020F0502020204030204" charset="0"/>
              <a:sym typeface="+mn-ea"/>
            </a:endParaRPr>
          </a:p>
          <a:p>
            <a:pPr marL="0" indent="0"/>
            <a:endParaRPr lang="en-US" altLang="en-US" sz="2400">
              <a:latin typeface="Calibri" panose="020F0502020204030204" charset="0"/>
              <a:ea typeface="quote-cjk-patch"/>
              <a:cs typeface="Calibri" panose="020F0502020204030204" charset="0"/>
              <a:sym typeface="+mn-ea"/>
            </a:endParaRPr>
          </a:p>
          <a:p>
            <a:pPr marL="0" indent="0"/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40 -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при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равном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счете</a:t>
            </a:r>
            <a:endParaRPr lang="en-US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b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</a:br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41 -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возвращаем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строку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при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ничье</a:t>
            </a:r>
            <a:endParaRPr lang="en-US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</p:txBody>
      </p:sp>
      <p:pic>
        <p:nvPicPr>
          <p:cNvPr id="10" name="Изображение 9" descr="Снимок экрана 2025-11-09 1938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3325" cy="3223895"/>
          </a:xfrm>
          <a:prstGeom prst="rect">
            <a:avLst/>
          </a:prstGeom>
        </p:spPr>
      </p:pic>
      <p:sp>
        <p:nvSpPr>
          <p:cNvPr id="13" name="Текстовое поле 12"/>
          <p:cNvSpPr txBox="1"/>
          <p:nvPr/>
        </p:nvSpPr>
        <p:spPr>
          <a:xfrm>
            <a:off x="7553325" y="0"/>
            <a:ext cx="4638675" cy="322453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/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35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объявляем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функцию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с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двумя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параметрами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: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счет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пользователя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и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счет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компьютера</a:t>
            </a:r>
            <a:endParaRPr lang="en-US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36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проверяем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,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ведет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ли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пользователь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счет</a:t>
            </a:r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е</a:t>
            </a:r>
            <a:endParaRPr lang="en-US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37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возвращаем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строку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при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лидерстве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пользователя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b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</a:br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38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проверяем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,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ведет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ли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компьютер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счете</a:t>
            </a:r>
            <a:endParaRPr lang="en-US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Текстовое поле 3"/>
          <p:cNvSpPr txBox="1"/>
          <p:nvPr/>
        </p:nvSpPr>
        <p:spPr>
          <a:xfrm>
            <a:off x="909955" y="3268345"/>
            <a:ext cx="9774555" cy="310070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/>
            <a:r>
              <a:rPr 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44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объявляем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функцию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с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параметром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текущего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выбора</a:t>
            </a:r>
            <a:endParaRPr lang="en-US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45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цикл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выполняется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пока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выбор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вне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допустимого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диапазона</a:t>
            </a:r>
            <a:endParaRPr lang="en-US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46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вызов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функции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отображения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меню</a:t>
            </a:r>
            <a:endParaRPr lang="en-US" altLang="ru-RU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47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получение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ввода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от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пользователя</a:t>
            </a:r>
            <a:endParaRPr lang="en-US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48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проверка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что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ввод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является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цифрой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диапазоне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1-4</a:t>
            </a:r>
            <a:endParaRPr lang="en-US" altLang="ru-RU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49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- </a:t>
            </a:r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перезаписываем переменную предыдущего выбора новым выбором</a:t>
            </a:r>
            <a:endParaRPr lang="en-US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50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- </a:t>
            </a:r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функция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возвра</a:t>
            </a:r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щает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выбор</a:t>
            </a:r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пользователя</a:t>
            </a:r>
            <a:endParaRPr lang="ru-RU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</p:txBody>
      </p:sp>
      <p:pic>
        <p:nvPicPr>
          <p:cNvPr id="3" name="Изображение 2" descr="Снимок экрана 2025-11-09 1938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046845" cy="32023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Текстовое поле 11"/>
          <p:cNvSpPr txBox="1"/>
          <p:nvPr/>
        </p:nvSpPr>
        <p:spPr>
          <a:xfrm>
            <a:off x="8783320" y="0"/>
            <a:ext cx="3408680" cy="551307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/>
            <a:r>
              <a:rPr 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53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бесконечный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цикл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для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повторения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раундов</a:t>
            </a:r>
            <a:endParaRPr lang="en-US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54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получение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выбора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пользователя</a:t>
            </a:r>
            <a:endParaRPr lang="en-US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55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проверка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выхода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из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игры</a:t>
            </a:r>
            <a:endParaRPr lang="en-US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57-65 -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условия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для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определения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финального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результата</a:t>
            </a:r>
            <a:endParaRPr lang="en-US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68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вызов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функции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синтеза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речи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для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итогового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сообщения</a:t>
            </a:r>
            <a:endParaRPr lang="en-US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69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прерывание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цикла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для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завершения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программы</a:t>
            </a:r>
            <a:endParaRPr lang="en-US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8782685" cy="62496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Текстовое поле 11"/>
          <p:cNvSpPr txBox="1"/>
          <p:nvPr/>
        </p:nvSpPr>
        <p:spPr>
          <a:xfrm>
            <a:off x="6762115" y="1110615"/>
            <a:ext cx="5506085" cy="411099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/>
            <a:r>
              <a:rPr 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72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генерируем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случайное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число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от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1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до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3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для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выбора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компьютера</a:t>
            </a:r>
            <a:b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</a:br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75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вызываем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функцию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определения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победителя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с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передачей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обоих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выборов</a:t>
            </a:r>
            <a:endParaRPr lang="en-US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78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проверяем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,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является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ли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победителем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пользователь</a:t>
            </a:r>
            <a:endParaRPr lang="en-US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79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увеличиваем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счет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пользователя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на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1</a:t>
            </a:r>
            <a:endParaRPr lang="ru-RU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80 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проверяем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,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является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ли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победителем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компьютер</a:t>
            </a:r>
            <a:endParaRPr lang="en-US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81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увеличиваем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счет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компьютера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на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1</a:t>
            </a:r>
            <a:endParaRPr lang="en-US" altLang="ru-RU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11250"/>
            <a:ext cx="6762115" cy="4109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Текстовое поле 2"/>
          <p:cNvSpPr txBox="1"/>
          <p:nvPr/>
        </p:nvSpPr>
        <p:spPr>
          <a:xfrm>
            <a:off x="718820" y="2950845"/>
            <a:ext cx="7854950" cy="26765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ru-RU" sz="2400">
                <a:latin typeface="Calibri" panose="020F0502020204030204" charset="0"/>
                <a:ea typeface="quote-cjk-patch"/>
                <a:cs typeface="Calibri" panose="020F0502020204030204" charset="0"/>
                <a:sym typeface="+mn-ea"/>
              </a:rPr>
              <a:t>84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используем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тернарный</a:t>
            </a:r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*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оператор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для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преобразования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эмодзи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текст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для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пользователя</a:t>
            </a:r>
            <a:endParaRPr lang="en-US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endParaRPr lang="en-US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85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аналогично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для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выбора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компьютера</a:t>
            </a:r>
            <a:endParaRPr lang="en-US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endParaRPr lang="en-US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88-89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создаем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форматированную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строку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для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озвучки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с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текстовыми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описаниями</a:t>
            </a:r>
            <a:endParaRPr lang="en-US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80" y="459740"/>
            <a:ext cx="12174220" cy="2162810"/>
          </a:xfrm>
          <a:prstGeom prst="rect">
            <a:avLst/>
          </a:prstGeom>
        </p:spPr>
      </p:pic>
      <p:sp>
        <p:nvSpPr>
          <p:cNvPr id="5" name="Текстовое поле 4"/>
          <p:cNvSpPr txBox="1"/>
          <p:nvPr/>
        </p:nvSpPr>
        <p:spPr>
          <a:xfrm>
            <a:off x="0" y="6028055"/>
            <a:ext cx="12134215" cy="829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ru-RU" sz="2400">
                <a:latin typeface="Calibri" panose="020F0502020204030204" charset="0"/>
                <a:ea typeface="quote-cjk-patch"/>
                <a:cs typeface="Calibri" panose="020F0502020204030204" charset="0"/>
                <a:sym typeface="+mn-ea"/>
              </a:rPr>
              <a:t>*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Тернарный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оператор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это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компактная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форма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записи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условного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выражения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,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которая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позволяет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записать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простое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условие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if-else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одну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строку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.</a:t>
            </a:r>
            <a:endParaRPr lang="en-US" altLang="ru-RU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Текстовое поле 2"/>
          <p:cNvSpPr txBox="1"/>
          <p:nvPr/>
        </p:nvSpPr>
        <p:spPr>
          <a:xfrm>
            <a:off x="805180" y="3133725"/>
            <a:ext cx="9669780" cy="26765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ru-RU" sz="2400">
                <a:latin typeface="Calibri" panose="020F0502020204030204" charset="0"/>
                <a:ea typeface="quote-cjk-patch"/>
                <a:cs typeface="Calibri" panose="020F0502020204030204" charset="0"/>
                <a:sym typeface="+mn-ea"/>
              </a:rPr>
              <a:t>92-94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выводим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консоль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результат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раунда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с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эмодзи</a:t>
            </a:r>
            <a:endParaRPr lang="en-US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b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</a:br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94 -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вызываем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функцию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для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получения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текстового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описания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счета</a:t>
            </a:r>
            <a:b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</a:br>
            <a:endParaRPr lang="en-US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97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озвучиваем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результат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раунда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через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синтезатор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речи</a:t>
            </a:r>
            <a:endParaRPr lang="en-US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endParaRPr lang="ru-RU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100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сбрасываем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выбор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пользователя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для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следующего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раунда</a:t>
            </a:r>
            <a:endParaRPr lang="en-US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</p:txBody>
      </p:sp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09145" cy="30219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Текстовое поле 2"/>
          <p:cNvSpPr txBox="1"/>
          <p:nvPr/>
        </p:nvSpPr>
        <p:spPr>
          <a:xfrm>
            <a:off x="805180" y="3133725"/>
            <a:ext cx="9669780" cy="26765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ru-RU" sz="2400">
                <a:latin typeface="Calibri" panose="020F0502020204030204" charset="0"/>
                <a:ea typeface="quote-cjk-patch"/>
                <a:cs typeface="Calibri" panose="020F0502020204030204" charset="0"/>
                <a:sym typeface="+mn-ea"/>
              </a:rPr>
              <a:t>92-94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выводим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консоль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результат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раунда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с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эмодзи</a:t>
            </a:r>
            <a:endParaRPr lang="en-US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b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</a:br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94 -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вызываем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функцию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для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получения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текстового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описания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счета</a:t>
            </a:r>
            <a:b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</a:br>
            <a:endParaRPr lang="en-US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97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озвучиваем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результат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раунда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через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синтезатор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речи</a:t>
            </a:r>
            <a:endParaRPr lang="en-US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endParaRPr lang="ru-RU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  <a:p>
            <a:pPr marL="0" indent="0"/>
            <a:r>
              <a:rPr lang="ru-RU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100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-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сбрасываем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выбор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пользователя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для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следующего</a:t>
            </a:r>
            <a:r>
              <a:rPr lang="en-US" altLang="ru-RU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 </a:t>
            </a:r>
            <a:r>
              <a:rPr lang="en-US" altLang="en-US" sz="2400" b="0" i="0">
                <a:solidFill>
                  <a:schemeClr val="tx1"/>
                </a:solidFill>
                <a:latin typeface="Calibri" panose="020F0502020204030204" charset="0"/>
                <a:ea typeface="quote-cjk-patch"/>
                <a:cs typeface="Calibri" panose="020F0502020204030204" charset="0"/>
              </a:rPr>
              <a:t>раунда</a:t>
            </a:r>
            <a:endParaRPr lang="en-US" altLang="en-US" sz="2400" b="0" i="0">
              <a:solidFill>
                <a:schemeClr val="tx1"/>
              </a:solidFill>
              <a:latin typeface="Calibri" panose="020F0502020204030204" charset="0"/>
              <a:ea typeface="quote-cjk-patch"/>
              <a:cs typeface="Calibri" panose="020F0502020204030204" charset="0"/>
            </a:endParaRPr>
          </a:p>
        </p:txBody>
      </p:sp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09145" cy="30219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Текстовое поле 3"/>
          <p:cNvSpPr txBox="1"/>
          <p:nvPr/>
        </p:nvSpPr>
        <p:spPr>
          <a:xfrm>
            <a:off x="-95885" y="2863215"/>
            <a:ext cx="59791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 sz="4000"/>
              <a:t>Выполнение программы:</a:t>
            </a:r>
            <a:endParaRPr lang="ru-RU" altLang="en-US" sz="4000"/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5865" y="0"/>
            <a:ext cx="5328920" cy="68586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3546</Words>
  <Application>WPS Presentation</Application>
  <PresentationFormat>Widescreen</PresentationFormat>
  <Paragraphs>100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SimSun</vt:lpstr>
      <vt:lpstr>Wingdings</vt:lpstr>
      <vt:lpstr>Calibri</vt:lpstr>
      <vt:lpstr>quote-cjk-patch</vt:lpstr>
      <vt:lpstr>Segoe Print</vt:lpstr>
      <vt:lpstr>Microsoft YaHei</vt:lpstr>
      <vt:lpstr>Arial Unicode MS</vt:lpstr>
      <vt:lpstr>Calibri Light</vt:lpstr>
      <vt:lpstr>Office Theme</vt:lpstr>
      <vt:lpstr>rock-scissors-paper текстовая игра "камень, ножницы, бумага" с озвучкой на Python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Опиумные войны в Китае. Восстание тайпинов.</dc:title>
  <dc:creator>Varvara</dc:creator>
  <cp:lastModifiedBy>Varvara</cp:lastModifiedBy>
  <cp:revision>12</cp:revision>
  <dcterms:created xsi:type="dcterms:W3CDTF">2024-11-10T15:37:00Z</dcterms:created>
  <dcterms:modified xsi:type="dcterms:W3CDTF">2025-11-09T17:48:15Z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7C7F50D22CB142FAB2B40A64438AD81C_13</vt:lpwstr>
  </property>
  <property fmtid="{D5CDD505-2E9C-101B-9397-08002B2CF9AE}" pid="3" name="KSOProductBuildVer">
    <vt:lpwstr>1049-12.2.0.23149</vt:lpwstr>
  </property>
</Properties>
</file>